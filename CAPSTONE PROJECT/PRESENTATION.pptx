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6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3680" y="283516"/>
            <a:ext cx="6356350" cy="1274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6418" y="1877249"/>
            <a:ext cx="10834370" cy="395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g"/><Relationship Id="rId7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6646" y="1774227"/>
            <a:ext cx="8916670" cy="13614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74040" marR="5080" indent="-561975">
              <a:lnSpc>
                <a:spcPts val="5240"/>
              </a:lnSpc>
              <a:spcBef>
                <a:spcPts val="240"/>
              </a:spcBef>
            </a:pPr>
            <a:r>
              <a:rPr dirty="0"/>
              <a:t>Design</a:t>
            </a:r>
            <a:r>
              <a:rPr spc="-10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10" dirty="0"/>
              <a:t>Implementation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Library Information</a:t>
            </a:r>
            <a:r>
              <a:rPr spc="-190" dirty="0"/>
              <a:t> </a:t>
            </a:r>
            <a:r>
              <a:rPr spc="-10" dirty="0"/>
              <a:t>Management</a:t>
            </a:r>
            <a:r>
              <a:rPr spc="-18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8164" y="3256380"/>
            <a:ext cx="3837940" cy="248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marR="190500" indent="770255">
              <a:lnSpc>
                <a:spcPct val="120200"/>
              </a:lnSpc>
              <a:spcBef>
                <a:spcPts val="100"/>
              </a:spcBef>
              <a:tabLst>
                <a:tab pos="1692910" algn="l"/>
              </a:tabLst>
            </a:pPr>
            <a:r>
              <a:rPr sz="2700" dirty="0">
                <a:latin typeface="Calibri"/>
                <a:cs typeface="Calibri"/>
              </a:rPr>
              <a:t>Presented</a:t>
            </a:r>
            <a:r>
              <a:rPr sz="2700" spc="-1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by: </a:t>
            </a:r>
            <a:r>
              <a:rPr sz="2700" dirty="0">
                <a:latin typeface="Calibri"/>
                <a:cs typeface="Calibri"/>
              </a:rPr>
              <a:t>Monish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L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[1972260035]</a:t>
            </a:r>
            <a:endParaRPr sz="2700" dirty="0">
              <a:latin typeface="Calibri"/>
              <a:cs typeface="Calibri"/>
            </a:endParaRPr>
          </a:p>
          <a:p>
            <a:pPr marL="12065" marR="5080" algn="ctr">
              <a:lnSpc>
                <a:spcPct val="117900"/>
              </a:lnSpc>
            </a:pPr>
            <a:r>
              <a:rPr sz="2700" dirty="0">
                <a:latin typeface="Calibri"/>
                <a:cs typeface="Calibri"/>
              </a:rPr>
              <a:t>Aman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Singh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5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[192460117] </a:t>
            </a:r>
            <a:r>
              <a:rPr sz="2700" dirty="0">
                <a:latin typeface="Calibri"/>
                <a:cs typeface="Calibri"/>
              </a:rPr>
              <a:t>CSA0206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Programming</a:t>
            </a:r>
            <a:endParaRPr sz="27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sz="2700" dirty="0">
                <a:latin typeface="Calibri"/>
                <a:cs typeface="Calibri"/>
              </a:rPr>
              <a:t>Date</a:t>
            </a:r>
            <a:r>
              <a:rPr sz="2700">
                <a:latin typeface="Calibri"/>
                <a:cs typeface="Calibri"/>
              </a:rPr>
              <a:t>:</a:t>
            </a:r>
            <a:r>
              <a:rPr sz="2700" spc="-95">
                <a:latin typeface="Calibri"/>
                <a:cs typeface="Calibri"/>
              </a:rPr>
              <a:t> </a:t>
            </a:r>
            <a:r>
              <a:rPr lang="en-US" sz="2700" spc="-10">
                <a:latin typeface="Calibri"/>
                <a:cs typeface="Calibri"/>
              </a:rPr>
              <a:t>22</a:t>
            </a:r>
            <a:r>
              <a:rPr sz="2700" spc="-10">
                <a:latin typeface="Calibri"/>
                <a:cs typeface="Calibri"/>
              </a:rPr>
              <a:t>/08/2026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558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3725" y="1777213"/>
            <a:ext cx="10544175" cy="3129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marR="5080" indent="-378460">
              <a:lnSpc>
                <a:spcPts val="3820"/>
              </a:lnSpc>
              <a:spcBef>
                <a:spcPts val="240"/>
              </a:spcBef>
              <a:buFont typeface="Arial MT"/>
              <a:buChar char="•"/>
              <a:tabLst>
                <a:tab pos="39179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8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focuses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utilizing</a:t>
            </a:r>
            <a:r>
              <a:rPr sz="3200" spc="1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1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managing 	</a:t>
            </a:r>
            <a:r>
              <a:rPr sz="3200" dirty="0">
                <a:latin typeface="Calibri"/>
                <a:cs typeface="Calibri"/>
              </a:rPr>
              <a:t>Books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inventory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records.</a:t>
            </a:r>
            <a:endParaRPr sz="3200">
              <a:latin typeface="Calibri"/>
              <a:cs typeface="Calibri"/>
            </a:endParaRPr>
          </a:p>
          <a:p>
            <a:pPr marL="390525" marR="8255" indent="-378460">
              <a:lnSpc>
                <a:spcPts val="3820"/>
              </a:lnSpc>
              <a:spcBef>
                <a:spcPts val="750"/>
              </a:spcBef>
              <a:buFont typeface="Arial MT"/>
              <a:buChar char="•"/>
              <a:tabLst>
                <a:tab pos="391795" algn="l"/>
                <a:tab pos="2455545" algn="l"/>
                <a:tab pos="3829685" algn="l"/>
                <a:tab pos="6327775" algn="l"/>
                <a:tab pos="7787640" algn="l"/>
                <a:tab pos="9293860" algn="l"/>
              </a:tabLst>
            </a:pPr>
            <a:r>
              <a:rPr sz="3200" spc="-10" dirty="0">
                <a:latin typeface="Calibri"/>
                <a:cs typeface="Calibri"/>
              </a:rPr>
              <a:t>Traditional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library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management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require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manual 	</a:t>
            </a:r>
            <a:r>
              <a:rPr sz="3200" dirty="0">
                <a:latin typeface="Calibri"/>
                <a:cs typeface="Calibri"/>
              </a:rPr>
              <a:t>entries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consuming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reliable.</a:t>
            </a:r>
            <a:endParaRPr sz="3200">
              <a:latin typeface="Calibri"/>
              <a:cs typeface="Calibri"/>
            </a:endParaRPr>
          </a:p>
          <a:p>
            <a:pPr marL="390525" marR="5080" indent="-378460">
              <a:lnSpc>
                <a:spcPts val="3820"/>
              </a:lnSpc>
              <a:spcBef>
                <a:spcPts val="730"/>
              </a:spcBef>
              <a:buFont typeface="Arial MT"/>
              <a:buChar char="•"/>
              <a:tabLst>
                <a:tab pos="391795" algn="l"/>
              </a:tabLst>
            </a:pPr>
            <a:r>
              <a:rPr sz="3200" dirty="0">
                <a:latin typeface="Calibri"/>
                <a:cs typeface="Calibri"/>
              </a:rPr>
              <a:t>Purpose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project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automate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traditional </a:t>
            </a:r>
            <a:r>
              <a:rPr sz="3200" spc="-10" dirty="0">
                <a:latin typeface="Calibri"/>
                <a:cs typeface="Calibri"/>
              </a:rPr>
              <a:t>method 	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reliable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automated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209613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66" y="1683966"/>
            <a:ext cx="10648315" cy="42697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91160" indent="-378460" algn="just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391160" algn="l"/>
              </a:tabLst>
            </a:pPr>
            <a:r>
              <a:rPr sz="3200" spc="-10" dirty="0">
                <a:latin typeface="Calibri"/>
                <a:cs typeface="Calibri"/>
              </a:rPr>
              <a:t>Digitalize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book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inventory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records.</a:t>
            </a:r>
            <a:endParaRPr sz="3200">
              <a:latin typeface="Calibri"/>
              <a:cs typeface="Calibri"/>
            </a:endParaRPr>
          </a:p>
          <a:p>
            <a:pPr marL="390525" marR="13335" indent="-378460" algn="just">
              <a:lnSpc>
                <a:spcPts val="3820"/>
              </a:lnSpc>
              <a:spcBef>
                <a:spcPts val="875"/>
              </a:spcBef>
              <a:buFont typeface="Arial MT"/>
              <a:buChar char="•"/>
              <a:tabLst>
                <a:tab pos="391795" algn="l"/>
              </a:tabLst>
            </a:pP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reliable</a:t>
            </a:r>
            <a:r>
              <a:rPr sz="3200" spc="4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logic</a:t>
            </a:r>
            <a:r>
              <a:rPr sz="3200" spc="5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6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5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issuing</a:t>
            </a:r>
            <a:r>
              <a:rPr sz="3200" spc="5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books,</a:t>
            </a:r>
            <a:r>
              <a:rPr sz="3200" spc="5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processing 	</a:t>
            </a:r>
            <a:r>
              <a:rPr sz="3200" dirty="0">
                <a:latin typeface="Calibri"/>
                <a:cs typeface="Calibri"/>
              </a:rPr>
              <a:t>returns,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enforcing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borrowing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limits.</a:t>
            </a:r>
            <a:endParaRPr sz="3200">
              <a:latin typeface="Calibri"/>
              <a:cs typeface="Calibri"/>
            </a:endParaRPr>
          </a:p>
          <a:p>
            <a:pPr marL="390525" marR="5080" indent="-378460" algn="just">
              <a:lnSpc>
                <a:spcPct val="100499"/>
              </a:lnSpc>
              <a:spcBef>
                <a:spcPts val="434"/>
              </a:spcBef>
              <a:buFont typeface="Arial MT"/>
              <a:buChar char="•"/>
              <a:tabLst>
                <a:tab pos="391795" algn="l"/>
              </a:tabLst>
            </a:pP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25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library</a:t>
            </a:r>
            <a:r>
              <a:rPr sz="3200" spc="2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2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relies</a:t>
            </a:r>
            <a:r>
              <a:rPr sz="3200" spc="20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paper</a:t>
            </a:r>
            <a:r>
              <a:rPr sz="3200" spc="2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ledgers,</a:t>
            </a:r>
            <a:r>
              <a:rPr sz="3200" spc="1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leading 	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slower search,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entry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errors,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inefficient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	</a:t>
            </a:r>
            <a:r>
              <a:rPr sz="3200" spc="-10" dirty="0">
                <a:latin typeface="Calibri"/>
                <a:cs typeface="Calibri"/>
              </a:rPr>
              <a:t>members.</a:t>
            </a:r>
            <a:endParaRPr sz="3200">
              <a:latin typeface="Calibri"/>
              <a:cs typeface="Calibri"/>
            </a:endParaRPr>
          </a:p>
          <a:p>
            <a:pPr marL="390525" marR="19685" indent="-378460" algn="just">
              <a:lnSpc>
                <a:spcPct val="101499"/>
              </a:lnSpc>
              <a:spcBef>
                <a:spcPts val="525"/>
              </a:spcBef>
              <a:buFont typeface="Arial MT"/>
              <a:buChar char="•"/>
              <a:tabLst>
                <a:tab pos="391795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3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robust,</a:t>
            </a:r>
            <a:r>
              <a:rPr sz="3200" spc="33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memory-</a:t>
            </a:r>
            <a:r>
              <a:rPr sz="3200" dirty="0">
                <a:latin typeface="Calibri"/>
                <a:cs typeface="Calibri"/>
              </a:rPr>
              <a:t>safe</a:t>
            </a:r>
            <a:r>
              <a:rPr sz="3200" spc="2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application</a:t>
            </a:r>
            <a:r>
              <a:rPr sz="3200" spc="43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3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instant</a:t>
            </a:r>
            <a:r>
              <a:rPr sz="3200" spc="3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3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retrival 	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optimized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sort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24904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193512"/>
              </p:ext>
            </p:extLst>
          </p:nvPr>
        </p:nvGraphicFramePr>
        <p:xfrm>
          <a:off x="276668" y="1676400"/>
          <a:ext cx="11682092" cy="4866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9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4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7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PAPER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TECHNOLOGIES</a:t>
                      </a:r>
                      <a:r>
                        <a:rPr sz="18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6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9240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Big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Analytics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Library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AI: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Personalized Content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Recommendation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Catalog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Optimization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9812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Pinijia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Hu,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Yichi Zhang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8351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Superior Recommendation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Accuracy,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High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Scalability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2034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Dependency,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Lack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Deep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Semantic Understanding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55904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Variational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Autoencoder(VAE),</a:t>
                      </a:r>
                      <a:r>
                        <a:rPr sz="18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Adam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Optimizer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Lockhead Mechanism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Large-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Scale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Processing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88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1280" algn="just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Path</a:t>
                      </a:r>
                      <a:r>
                        <a:rPr sz="1800" spc="35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800" spc="37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38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Library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80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Robot</a:t>
                      </a:r>
                      <a:r>
                        <a:rPr sz="1800" spc="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PDO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algorithm.(2025)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Lin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78740" algn="just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Massive</a:t>
                      </a:r>
                      <a:r>
                        <a:rPr sz="1800" spc="4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Efficiency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Gains,</a:t>
                      </a:r>
                      <a:r>
                        <a:rPr sz="1800" spc="310" dirty="0">
                          <a:latin typeface="Calibri"/>
                          <a:cs typeface="Calibri"/>
                        </a:rPr>
                        <a:t>  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Reduced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Redundancy</a:t>
                      </a:r>
                      <a:r>
                        <a:rPr sz="1800" spc="22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Adaptability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0259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Algorithmic Complexity, Parameter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Sensitivity, Real-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Processing Constraints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5367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ACO(Ant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Colony Optimization), PDO(Particle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Differential Optimization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Negative Feedback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Mechanism)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7051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Risk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Plan-Do-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Check-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Digital Libraries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Yimin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Yin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2387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Accuracy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practical validation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1465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Computational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Overhead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Implementation Complexity.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96075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Learning Algorithms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75387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98" y="1958140"/>
            <a:ext cx="10868025" cy="33940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391160" algn="l"/>
              </a:tabLst>
            </a:pPr>
            <a:r>
              <a:rPr sz="3200" b="1" dirty="0">
                <a:latin typeface="Calibri"/>
                <a:cs typeface="Calibri"/>
              </a:rPr>
              <a:t>Programming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language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used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: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ANSI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(C89/C99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standard)</a:t>
            </a:r>
            <a:endParaRPr sz="3200">
              <a:latin typeface="Calibri"/>
              <a:cs typeface="Calibri"/>
            </a:endParaRPr>
          </a:p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486409" algn="l"/>
              </a:tabLst>
            </a:pPr>
            <a:r>
              <a:rPr sz="3200" b="1" dirty="0">
                <a:latin typeface="Calibri"/>
                <a:cs typeface="Calibri"/>
              </a:rPr>
              <a:t>Compiler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used</a:t>
            </a:r>
            <a:r>
              <a:rPr sz="3200" b="1" spc="-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: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GCC(GNU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Compiler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Collection)</a:t>
            </a:r>
            <a:endParaRPr sz="320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91160" algn="l"/>
              </a:tabLst>
            </a:pPr>
            <a:r>
              <a:rPr sz="3200" b="1" spc="-10" dirty="0">
                <a:latin typeface="Calibri"/>
                <a:cs typeface="Calibri"/>
              </a:rPr>
              <a:t>Development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environment: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Visual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Studio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Code/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Code::Block</a:t>
            </a:r>
            <a:endParaRPr sz="320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91160" algn="l"/>
              </a:tabLst>
            </a:pPr>
            <a:r>
              <a:rPr sz="3200" b="1" spc="-10" dirty="0">
                <a:latin typeface="Calibri"/>
                <a:cs typeface="Calibri"/>
              </a:rPr>
              <a:t>Development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approach:</a:t>
            </a:r>
            <a:r>
              <a:rPr sz="3200" b="1" spc="-10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Modular,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procedural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top-</a:t>
            </a:r>
            <a:r>
              <a:rPr sz="3200" dirty="0">
                <a:latin typeface="Calibri"/>
                <a:cs typeface="Calibri"/>
              </a:rPr>
              <a:t>down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  <a:p>
            <a:pPr marL="390525" marR="5080" indent="-378460">
              <a:lnSpc>
                <a:spcPct val="101499"/>
              </a:lnSpc>
              <a:spcBef>
                <a:spcPts val="60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Data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collection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: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CLI-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sanitized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persistently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 	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.dat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files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225" dirty="0"/>
              <a:t> </a:t>
            </a:r>
            <a:r>
              <a:rPr spc="-10" dirty="0"/>
              <a:t>Architecture</a:t>
            </a:r>
            <a:r>
              <a:rPr spc="-22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23839" y="1894162"/>
            <a:ext cx="2256706" cy="749701"/>
            <a:chOff x="499977" y="1756199"/>
            <a:chExt cx="1663700" cy="10033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977" y="1756199"/>
              <a:ext cx="1663548" cy="10028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692" y="1780935"/>
              <a:ext cx="1574116" cy="9134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4692" y="1780935"/>
              <a:ext cx="1574165" cy="913765"/>
            </a:xfrm>
            <a:custGeom>
              <a:avLst/>
              <a:gdLst/>
              <a:ahLst/>
              <a:cxnLst/>
              <a:rect l="l" t="t" r="r" b="b"/>
              <a:pathLst>
                <a:path w="1574164" h="913764">
                  <a:moveTo>
                    <a:pt x="0" y="152244"/>
                  </a:moveTo>
                  <a:lnTo>
                    <a:pt x="7761" y="104123"/>
                  </a:lnTo>
                  <a:lnTo>
                    <a:pt x="29374" y="62330"/>
                  </a:lnTo>
                  <a:lnTo>
                    <a:pt x="62330" y="29374"/>
                  </a:lnTo>
                  <a:lnTo>
                    <a:pt x="104123" y="7761"/>
                  </a:lnTo>
                  <a:lnTo>
                    <a:pt x="152244" y="0"/>
                  </a:lnTo>
                  <a:lnTo>
                    <a:pt x="1421872" y="0"/>
                  </a:lnTo>
                  <a:lnTo>
                    <a:pt x="1480133" y="11588"/>
                  </a:lnTo>
                  <a:lnTo>
                    <a:pt x="1529525" y="44591"/>
                  </a:lnTo>
                  <a:lnTo>
                    <a:pt x="1562527" y="93982"/>
                  </a:lnTo>
                  <a:lnTo>
                    <a:pt x="1574116" y="152244"/>
                  </a:lnTo>
                  <a:lnTo>
                    <a:pt x="1574116" y="761203"/>
                  </a:lnTo>
                  <a:lnTo>
                    <a:pt x="1566355" y="809324"/>
                  </a:lnTo>
                  <a:lnTo>
                    <a:pt x="1544742" y="851116"/>
                  </a:lnTo>
                  <a:lnTo>
                    <a:pt x="1511785" y="884073"/>
                  </a:lnTo>
                  <a:lnTo>
                    <a:pt x="1469993" y="905685"/>
                  </a:lnTo>
                  <a:lnTo>
                    <a:pt x="1421872" y="913447"/>
                  </a:lnTo>
                  <a:lnTo>
                    <a:pt x="152244" y="913447"/>
                  </a:lnTo>
                  <a:lnTo>
                    <a:pt x="104123" y="905685"/>
                  </a:lnTo>
                  <a:lnTo>
                    <a:pt x="62330" y="884073"/>
                  </a:lnTo>
                  <a:lnTo>
                    <a:pt x="29374" y="851116"/>
                  </a:lnTo>
                  <a:lnTo>
                    <a:pt x="7761" y="809324"/>
                  </a:lnTo>
                  <a:lnTo>
                    <a:pt x="0" y="761203"/>
                  </a:lnTo>
                  <a:lnTo>
                    <a:pt x="0" y="152244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77073" y="2101712"/>
            <a:ext cx="77216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800" b="1" spc="-10" dirty="0">
                <a:latin typeface="Calibri"/>
                <a:cs typeface="Calibri"/>
              </a:rPr>
              <a:t>Student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99613" y="1870594"/>
            <a:ext cx="2270748" cy="757815"/>
            <a:chOff x="3185382" y="1770381"/>
            <a:chExt cx="1362075" cy="10033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5382" y="1770381"/>
              <a:ext cx="1361937" cy="10028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0098" y="1795118"/>
              <a:ext cx="1272506" cy="9134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30098" y="1795118"/>
              <a:ext cx="1272540" cy="913765"/>
            </a:xfrm>
            <a:custGeom>
              <a:avLst/>
              <a:gdLst/>
              <a:ahLst/>
              <a:cxnLst/>
              <a:rect l="l" t="t" r="r" b="b"/>
              <a:pathLst>
                <a:path w="1272539" h="913764">
                  <a:moveTo>
                    <a:pt x="0" y="152244"/>
                  </a:moveTo>
                  <a:lnTo>
                    <a:pt x="7761" y="104123"/>
                  </a:lnTo>
                  <a:lnTo>
                    <a:pt x="29374" y="62330"/>
                  </a:lnTo>
                  <a:lnTo>
                    <a:pt x="62330" y="29374"/>
                  </a:lnTo>
                  <a:lnTo>
                    <a:pt x="104123" y="7761"/>
                  </a:lnTo>
                  <a:lnTo>
                    <a:pt x="152244" y="0"/>
                  </a:lnTo>
                  <a:lnTo>
                    <a:pt x="1120261" y="0"/>
                  </a:lnTo>
                  <a:lnTo>
                    <a:pt x="1178523" y="11588"/>
                  </a:lnTo>
                  <a:lnTo>
                    <a:pt x="1227914" y="44591"/>
                  </a:lnTo>
                  <a:lnTo>
                    <a:pt x="1260917" y="93982"/>
                  </a:lnTo>
                  <a:lnTo>
                    <a:pt x="1272506" y="152244"/>
                  </a:lnTo>
                  <a:lnTo>
                    <a:pt x="1272506" y="761203"/>
                  </a:lnTo>
                  <a:lnTo>
                    <a:pt x="1264744" y="809324"/>
                  </a:lnTo>
                  <a:lnTo>
                    <a:pt x="1243131" y="851116"/>
                  </a:lnTo>
                  <a:lnTo>
                    <a:pt x="1210175" y="884073"/>
                  </a:lnTo>
                  <a:lnTo>
                    <a:pt x="1168382" y="905685"/>
                  </a:lnTo>
                  <a:lnTo>
                    <a:pt x="1120261" y="913447"/>
                  </a:lnTo>
                  <a:lnTo>
                    <a:pt x="152244" y="913447"/>
                  </a:lnTo>
                  <a:lnTo>
                    <a:pt x="104123" y="905685"/>
                  </a:lnTo>
                  <a:lnTo>
                    <a:pt x="62330" y="884073"/>
                  </a:lnTo>
                  <a:lnTo>
                    <a:pt x="29374" y="851116"/>
                  </a:lnTo>
                  <a:lnTo>
                    <a:pt x="7761" y="809324"/>
                  </a:lnTo>
                  <a:lnTo>
                    <a:pt x="0" y="761203"/>
                  </a:lnTo>
                  <a:lnTo>
                    <a:pt x="0" y="152244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32245" y="2068153"/>
            <a:ext cx="8985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Get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Book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3645" y="3510682"/>
            <a:ext cx="2233120" cy="742606"/>
            <a:chOff x="2780545" y="3536595"/>
            <a:chExt cx="2151869" cy="873616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0545" y="3536595"/>
              <a:ext cx="2151869" cy="8736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25260" y="3561332"/>
              <a:ext cx="2062437" cy="78418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25260" y="3561332"/>
              <a:ext cx="2062480" cy="784225"/>
            </a:xfrm>
            <a:custGeom>
              <a:avLst/>
              <a:gdLst/>
              <a:ahLst/>
              <a:cxnLst/>
              <a:rect l="l" t="t" r="r" b="b"/>
              <a:pathLst>
                <a:path w="2062479" h="784225">
                  <a:moveTo>
                    <a:pt x="0" y="130700"/>
                  </a:moveTo>
                  <a:lnTo>
                    <a:pt x="10271" y="79825"/>
                  </a:lnTo>
                  <a:lnTo>
                    <a:pt x="38281" y="38281"/>
                  </a:lnTo>
                  <a:lnTo>
                    <a:pt x="79825" y="10271"/>
                  </a:lnTo>
                  <a:lnTo>
                    <a:pt x="130700" y="0"/>
                  </a:lnTo>
                  <a:lnTo>
                    <a:pt x="1931737" y="0"/>
                  </a:lnTo>
                  <a:lnTo>
                    <a:pt x="1981753" y="9948"/>
                  </a:lnTo>
                  <a:lnTo>
                    <a:pt x="2024156" y="38281"/>
                  </a:lnTo>
                  <a:lnTo>
                    <a:pt x="2052488" y="80683"/>
                  </a:lnTo>
                  <a:lnTo>
                    <a:pt x="2062437" y="130700"/>
                  </a:lnTo>
                  <a:lnTo>
                    <a:pt x="2062437" y="653484"/>
                  </a:lnTo>
                  <a:lnTo>
                    <a:pt x="2052166" y="704359"/>
                  </a:lnTo>
                  <a:lnTo>
                    <a:pt x="2024156" y="745903"/>
                  </a:lnTo>
                  <a:lnTo>
                    <a:pt x="1982611" y="773913"/>
                  </a:lnTo>
                  <a:lnTo>
                    <a:pt x="1931737" y="784184"/>
                  </a:lnTo>
                  <a:lnTo>
                    <a:pt x="130700" y="784184"/>
                  </a:lnTo>
                  <a:lnTo>
                    <a:pt x="79825" y="773913"/>
                  </a:lnTo>
                  <a:lnTo>
                    <a:pt x="38281" y="745903"/>
                  </a:lnTo>
                  <a:lnTo>
                    <a:pt x="10271" y="704359"/>
                  </a:lnTo>
                  <a:lnTo>
                    <a:pt x="0" y="653484"/>
                  </a:lnTo>
                  <a:lnTo>
                    <a:pt x="0" y="13070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107084" y="3646965"/>
            <a:ext cx="17862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Find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Book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Position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13497" y="5235681"/>
            <a:ext cx="2136020" cy="757497"/>
            <a:chOff x="2080560" y="5231714"/>
            <a:chExt cx="3545204" cy="85979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0560" y="5231714"/>
              <a:ext cx="3545017" cy="8592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25275" y="5256451"/>
              <a:ext cx="3455585" cy="7698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25275" y="5256451"/>
              <a:ext cx="3455670" cy="770255"/>
            </a:xfrm>
            <a:custGeom>
              <a:avLst/>
              <a:gdLst/>
              <a:ahLst/>
              <a:cxnLst/>
              <a:rect l="l" t="t" r="r" b="b"/>
              <a:pathLst>
                <a:path w="3455670" h="770254">
                  <a:moveTo>
                    <a:pt x="0" y="128306"/>
                  </a:moveTo>
                  <a:lnTo>
                    <a:pt x="10082" y="78364"/>
                  </a:lnTo>
                  <a:lnTo>
                    <a:pt x="37580" y="37580"/>
                  </a:lnTo>
                  <a:lnTo>
                    <a:pt x="78363" y="10083"/>
                  </a:lnTo>
                  <a:lnTo>
                    <a:pt x="128306" y="0"/>
                  </a:lnTo>
                  <a:lnTo>
                    <a:pt x="3327279" y="0"/>
                  </a:lnTo>
                  <a:lnTo>
                    <a:pt x="3376379" y="9766"/>
                  </a:lnTo>
                  <a:lnTo>
                    <a:pt x="3418005" y="37580"/>
                  </a:lnTo>
                  <a:lnTo>
                    <a:pt x="3445818" y="79206"/>
                  </a:lnTo>
                  <a:lnTo>
                    <a:pt x="3455585" y="128306"/>
                  </a:lnTo>
                  <a:lnTo>
                    <a:pt x="3455585" y="641517"/>
                  </a:lnTo>
                  <a:lnTo>
                    <a:pt x="3445502" y="691460"/>
                  </a:lnTo>
                  <a:lnTo>
                    <a:pt x="3418005" y="732244"/>
                  </a:lnTo>
                  <a:lnTo>
                    <a:pt x="3377221" y="759741"/>
                  </a:lnTo>
                  <a:lnTo>
                    <a:pt x="3327279" y="769824"/>
                  </a:lnTo>
                  <a:lnTo>
                    <a:pt x="128306" y="769824"/>
                  </a:lnTo>
                  <a:lnTo>
                    <a:pt x="78363" y="759741"/>
                  </a:lnTo>
                  <a:lnTo>
                    <a:pt x="37580" y="732244"/>
                  </a:lnTo>
                  <a:lnTo>
                    <a:pt x="10082" y="691460"/>
                  </a:lnTo>
                  <a:lnTo>
                    <a:pt x="0" y="641517"/>
                  </a:lnTo>
                  <a:lnTo>
                    <a:pt x="0" y="128306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218944" y="5303340"/>
            <a:ext cx="190643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Update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Borrowed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Books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09335" y="3154789"/>
            <a:ext cx="2233120" cy="758718"/>
            <a:chOff x="7894450" y="3178074"/>
            <a:chExt cx="1922070" cy="758718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4450" y="3178074"/>
              <a:ext cx="1922070" cy="7587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39166" y="3202811"/>
              <a:ext cx="1832638" cy="6692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939166" y="3202811"/>
              <a:ext cx="1833245" cy="669290"/>
            </a:xfrm>
            <a:custGeom>
              <a:avLst/>
              <a:gdLst/>
              <a:ahLst/>
              <a:cxnLst/>
              <a:rect l="l" t="t" r="r" b="b"/>
              <a:pathLst>
                <a:path w="1833245" h="669289">
                  <a:moveTo>
                    <a:pt x="0" y="111550"/>
                  </a:moveTo>
                  <a:lnTo>
                    <a:pt x="8766" y="68129"/>
                  </a:lnTo>
                  <a:lnTo>
                    <a:pt x="32672" y="32672"/>
                  </a:lnTo>
                  <a:lnTo>
                    <a:pt x="68129" y="8766"/>
                  </a:lnTo>
                  <a:lnTo>
                    <a:pt x="111550" y="0"/>
                  </a:lnTo>
                  <a:lnTo>
                    <a:pt x="1721089" y="0"/>
                  </a:lnTo>
                  <a:lnTo>
                    <a:pt x="1763777" y="8491"/>
                  </a:lnTo>
                  <a:lnTo>
                    <a:pt x="1799966" y="32672"/>
                  </a:lnTo>
                  <a:lnTo>
                    <a:pt x="1824147" y="68861"/>
                  </a:lnTo>
                  <a:lnTo>
                    <a:pt x="1832638" y="111550"/>
                  </a:lnTo>
                  <a:lnTo>
                    <a:pt x="1832638" y="557736"/>
                  </a:lnTo>
                  <a:lnTo>
                    <a:pt x="1823872" y="601157"/>
                  </a:lnTo>
                  <a:lnTo>
                    <a:pt x="1799966" y="636614"/>
                  </a:lnTo>
                  <a:lnTo>
                    <a:pt x="1764509" y="660520"/>
                  </a:lnTo>
                  <a:lnTo>
                    <a:pt x="1721089" y="669287"/>
                  </a:lnTo>
                  <a:lnTo>
                    <a:pt x="111550" y="669287"/>
                  </a:lnTo>
                  <a:lnTo>
                    <a:pt x="68129" y="660520"/>
                  </a:lnTo>
                  <a:lnTo>
                    <a:pt x="32672" y="636614"/>
                  </a:lnTo>
                  <a:lnTo>
                    <a:pt x="8766" y="601157"/>
                  </a:lnTo>
                  <a:lnTo>
                    <a:pt x="0" y="557736"/>
                  </a:lnTo>
                  <a:lnTo>
                    <a:pt x="0" y="11155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326441" y="3360822"/>
            <a:ext cx="139890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Authors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769544" y="1874224"/>
            <a:ext cx="2270831" cy="757939"/>
            <a:chOff x="8057462" y="1837524"/>
            <a:chExt cx="1620520" cy="87376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57462" y="1837524"/>
              <a:ext cx="1620461" cy="8736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02178" y="1862261"/>
              <a:ext cx="1531029" cy="7841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102178" y="1862261"/>
              <a:ext cx="1531620" cy="784225"/>
            </a:xfrm>
            <a:custGeom>
              <a:avLst/>
              <a:gdLst/>
              <a:ahLst/>
              <a:cxnLst/>
              <a:rect l="l" t="t" r="r" b="b"/>
              <a:pathLst>
                <a:path w="1531620" h="784225">
                  <a:moveTo>
                    <a:pt x="0" y="130700"/>
                  </a:moveTo>
                  <a:lnTo>
                    <a:pt x="10271" y="79825"/>
                  </a:lnTo>
                  <a:lnTo>
                    <a:pt x="38281" y="38281"/>
                  </a:lnTo>
                  <a:lnTo>
                    <a:pt x="79825" y="10271"/>
                  </a:lnTo>
                  <a:lnTo>
                    <a:pt x="130699" y="0"/>
                  </a:lnTo>
                  <a:lnTo>
                    <a:pt x="1400329" y="0"/>
                  </a:lnTo>
                  <a:lnTo>
                    <a:pt x="1450345" y="9949"/>
                  </a:lnTo>
                  <a:lnTo>
                    <a:pt x="1492748" y="38281"/>
                  </a:lnTo>
                  <a:lnTo>
                    <a:pt x="1521080" y="80683"/>
                  </a:lnTo>
                  <a:lnTo>
                    <a:pt x="1531029" y="130700"/>
                  </a:lnTo>
                  <a:lnTo>
                    <a:pt x="1531029" y="653485"/>
                  </a:lnTo>
                  <a:lnTo>
                    <a:pt x="1520758" y="704360"/>
                  </a:lnTo>
                  <a:lnTo>
                    <a:pt x="1492748" y="745905"/>
                  </a:lnTo>
                  <a:lnTo>
                    <a:pt x="1451203" y="773915"/>
                  </a:lnTo>
                  <a:lnTo>
                    <a:pt x="1400329" y="784186"/>
                  </a:lnTo>
                  <a:lnTo>
                    <a:pt x="130699" y="784186"/>
                  </a:lnTo>
                  <a:lnTo>
                    <a:pt x="79825" y="773915"/>
                  </a:lnTo>
                  <a:lnTo>
                    <a:pt x="38281" y="745905"/>
                  </a:lnTo>
                  <a:lnTo>
                    <a:pt x="10271" y="704360"/>
                  </a:lnTo>
                  <a:lnTo>
                    <a:pt x="0" y="653485"/>
                  </a:lnTo>
                  <a:lnTo>
                    <a:pt x="0" y="13070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447097" y="2081671"/>
            <a:ext cx="103378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Book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Shelf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09337" y="3944667"/>
            <a:ext cx="2233118" cy="744855"/>
            <a:chOff x="7908989" y="4002833"/>
            <a:chExt cx="1922145" cy="744855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08989" y="4002833"/>
              <a:ext cx="1922072" cy="744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53705" y="4027569"/>
              <a:ext cx="1832640" cy="6549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953705" y="4027569"/>
              <a:ext cx="1833245" cy="655320"/>
            </a:xfrm>
            <a:custGeom>
              <a:avLst/>
              <a:gdLst/>
              <a:ahLst/>
              <a:cxnLst/>
              <a:rect l="l" t="t" r="r" b="b"/>
              <a:pathLst>
                <a:path w="1833245" h="655320">
                  <a:moveTo>
                    <a:pt x="0" y="109156"/>
                  </a:moveTo>
                  <a:lnTo>
                    <a:pt x="8578" y="66667"/>
                  </a:lnTo>
                  <a:lnTo>
                    <a:pt x="31971" y="31971"/>
                  </a:lnTo>
                  <a:lnTo>
                    <a:pt x="66667" y="8578"/>
                  </a:lnTo>
                  <a:lnTo>
                    <a:pt x="109155" y="0"/>
                  </a:lnTo>
                  <a:lnTo>
                    <a:pt x="1723484" y="0"/>
                  </a:lnTo>
                  <a:lnTo>
                    <a:pt x="1765256" y="8309"/>
                  </a:lnTo>
                  <a:lnTo>
                    <a:pt x="1800670" y="31971"/>
                  </a:lnTo>
                  <a:lnTo>
                    <a:pt x="1824331" y="67383"/>
                  </a:lnTo>
                  <a:lnTo>
                    <a:pt x="1832640" y="109156"/>
                  </a:lnTo>
                  <a:lnTo>
                    <a:pt x="1832640" y="545767"/>
                  </a:lnTo>
                  <a:lnTo>
                    <a:pt x="1824062" y="588256"/>
                  </a:lnTo>
                  <a:lnTo>
                    <a:pt x="1800669" y="622952"/>
                  </a:lnTo>
                  <a:lnTo>
                    <a:pt x="1765973" y="646346"/>
                  </a:lnTo>
                  <a:lnTo>
                    <a:pt x="1723484" y="654924"/>
                  </a:lnTo>
                  <a:lnTo>
                    <a:pt x="109155" y="654924"/>
                  </a:lnTo>
                  <a:lnTo>
                    <a:pt x="66667" y="646346"/>
                  </a:lnTo>
                  <a:lnTo>
                    <a:pt x="31971" y="622952"/>
                  </a:lnTo>
                  <a:lnTo>
                    <a:pt x="8578" y="588256"/>
                  </a:lnTo>
                  <a:lnTo>
                    <a:pt x="0" y="545767"/>
                  </a:lnTo>
                  <a:lnTo>
                    <a:pt x="0" y="109156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436349" y="4149123"/>
            <a:ext cx="115443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Titles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682800" y="5204526"/>
            <a:ext cx="2135907" cy="731184"/>
            <a:chOff x="8855650" y="5196527"/>
            <a:chExt cx="2841625" cy="988694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55650" y="5196527"/>
              <a:ext cx="2841263" cy="9885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00366" y="5221264"/>
              <a:ext cx="2751831" cy="89908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900366" y="5221264"/>
              <a:ext cx="2752090" cy="899160"/>
            </a:xfrm>
            <a:custGeom>
              <a:avLst/>
              <a:gdLst/>
              <a:ahLst/>
              <a:cxnLst/>
              <a:rect l="l" t="t" r="r" b="b"/>
              <a:pathLst>
                <a:path w="2752090" h="899160">
                  <a:moveTo>
                    <a:pt x="0" y="149850"/>
                  </a:moveTo>
                  <a:lnTo>
                    <a:pt x="7639" y="102486"/>
                  </a:lnTo>
                  <a:lnTo>
                    <a:pt x="28912" y="61350"/>
                  </a:lnTo>
                  <a:lnTo>
                    <a:pt x="61350" y="28912"/>
                  </a:lnTo>
                  <a:lnTo>
                    <a:pt x="102486" y="7639"/>
                  </a:lnTo>
                  <a:lnTo>
                    <a:pt x="149850" y="0"/>
                  </a:lnTo>
                  <a:lnTo>
                    <a:pt x="2601981" y="0"/>
                  </a:lnTo>
                  <a:lnTo>
                    <a:pt x="2659326" y="11406"/>
                  </a:lnTo>
                  <a:lnTo>
                    <a:pt x="2707941" y="43890"/>
                  </a:lnTo>
                  <a:lnTo>
                    <a:pt x="2740425" y="92505"/>
                  </a:lnTo>
                  <a:lnTo>
                    <a:pt x="2751831" y="149850"/>
                  </a:lnTo>
                  <a:lnTo>
                    <a:pt x="2751831" y="749234"/>
                  </a:lnTo>
                  <a:lnTo>
                    <a:pt x="2744192" y="796599"/>
                  </a:lnTo>
                  <a:lnTo>
                    <a:pt x="2722919" y="837734"/>
                  </a:lnTo>
                  <a:lnTo>
                    <a:pt x="2690480" y="870172"/>
                  </a:lnTo>
                  <a:lnTo>
                    <a:pt x="2649345" y="891445"/>
                  </a:lnTo>
                  <a:lnTo>
                    <a:pt x="2601981" y="899085"/>
                  </a:lnTo>
                  <a:lnTo>
                    <a:pt x="149850" y="899085"/>
                  </a:lnTo>
                  <a:lnTo>
                    <a:pt x="102486" y="891445"/>
                  </a:lnTo>
                  <a:lnTo>
                    <a:pt x="61350" y="870172"/>
                  </a:lnTo>
                  <a:lnTo>
                    <a:pt x="28912" y="837734"/>
                  </a:lnTo>
                  <a:lnTo>
                    <a:pt x="7639" y="796599"/>
                  </a:lnTo>
                  <a:lnTo>
                    <a:pt x="0" y="749234"/>
                  </a:lnTo>
                  <a:lnTo>
                    <a:pt x="0" y="14985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844607" y="5286961"/>
            <a:ext cx="181201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libri"/>
                <a:cs typeface="Calibri"/>
              </a:rPr>
              <a:t>List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Borrowed</a:t>
            </a:r>
            <a:r>
              <a:rPr lang="en-US" sz="1800" b="1" dirty="0">
                <a:latin typeface="Calibri"/>
                <a:cs typeface="Calibri"/>
              </a:rPr>
              <a:t>         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lang="en-US" sz="1800" b="1" spc="-55" dirty="0">
                <a:latin typeface="Calibri"/>
                <a:cs typeface="Calibri"/>
              </a:rPr>
              <a:t>  </a:t>
            </a:r>
            <a:r>
              <a:rPr lang="en-US" b="1" spc="-55" dirty="0">
                <a:latin typeface="Calibri"/>
                <a:cs typeface="Calibri"/>
              </a:rPr>
              <a:t>     </a:t>
            </a:r>
            <a:r>
              <a:rPr lang="en-US" sz="1800" b="1" spc="-10" dirty="0">
                <a:latin typeface="Calibri"/>
                <a:cs typeface="Calibri"/>
              </a:rPr>
              <a:t>      Bo</a:t>
            </a:r>
            <a:r>
              <a:rPr sz="1800" b="1" spc="-10" dirty="0">
                <a:latin typeface="Calibri"/>
                <a:cs typeface="Calibri"/>
              </a:rPr>
              <a:t>oks</a:t>
            </a:r>
            <a:endParaRPr sz="1800" dirty="0">
              <a:latin typeface="Calibri"/>
              <a:cs typeface="Calibri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3829032-692D-4103-CCDF-9BAA0578E57C}"/>
              </a:ext>
            </a:extLst>
          </p:cNvPr>
          <p:cNvCxnSpPr/>
          <p:nvPr/>
        </p:nvCxnSpPr>
        <p:spPr>
          <a:xfrm flipH="1">
            <a:off x="6000203" y="4284784"/>
            <a:ext cx="18698" cy="9117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6DB30E9-8B7F-9690-B04A-141211009A74}"/>
              </a:ext>
            </a:extLst>
          </p:cNvPr>
          <p:cNvCxnSpPr>
            <a:cxnSpLocks/>
          </p:cNvCxnSpPr>
          <p:nvPr/>
        </p:nvCxnSpPr>
        <p:spPr>
          <a:xfrm flipH="1" flipV="1">
            <a:off x="7049812" y="2240954"/>
            <a:ext cx="1657900" cy="83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1953E95-7577-72A5-730A-EA74D1C266D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000203" y="2643548"/>
            <a:ext cx="2" cy="867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65754ABB-591A-F8E1-251B-C7AA88F25E2A}"/>
              </a:ext>
            </a:extLst>
          </p:cNvPr>
          <p:cNvCxnSpPr>
            <a:cxnSpLocks/>
          </p:cNvCxnSpPr>
          <p:nvPr/>
        </p:nvCxnSpPr>
        <p:spPr>
          <a:xfrm>
            <a:off x="7130605" y="3881985"/>
            <a:ext cx="778730" cy="40279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5A49AA-9E03-4F66-2619-9D7FEE83B61F}"/>
              </a:ext>
            </a:extLst>
          </p:cNvPr>
          <p:cNvCxnSpPr>
            <a:cxnSpLocks/>
          </p:cNvCxnSpPr>
          <p:nvPr/>
        </p:nvCxnSpPr>
        <p:spPr>
          <a:xfrm>
            <a:off x="7519971" y="3531709"/>
            <a:ext cx="0" cy="41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B8D4149-799F-FF8F-5104-7CE650196EAF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7519971" y="3534148"/>
            <a:ext cx="3893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9FD02E25-3F9B-0AF1-0509-5F32A7FA469C}"/>
              </a:ext>
            </a:extLst>
          </p:cNvPr>
          <p:cNvSpPr/>
          <p:nvPr/>
        </p:nvSpPr>
        <p:spPr>
          <a:xfrm>
            <a:off x="1289461" y="5245951"/>
            <a:ext cx="2157356" cy="701281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Display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82BEECE-5BCD-C59F-5759-602A5B6E7655}"/>
              </a:ext>
            </a:extLst>
          </p:cNvPr>
          <p:cNvCxnSpPr>
            <a:cxnSpLocks/>
          </p:cNvCxnSpPr>
          <p:nvPr/>
        </p:nvCxnSpPr>
        <p:spPr>
          <a:xfrm flipH="1">
            <a:off x="3491018" y="5586430"/>
            <a:ext cx="1422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23AF425-DA72-8D67-B5C6-1C1F824EEC91}"/>
              </a:ext>
            </a:extLst>
          </p:cNvPr>
          <p:cNvCxnSpPr>
            <a:cxnSpLocks/>
          </p:cNvCxnSpPr>
          <p:nvPr/>
        </p:nvCxnSpPr>
        <p:spPr>
          <a:xfrm flipV="1">
            <a:off x="7070131" y="5575539"/>
            <a:ext cx="1591942" cy="9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EF40FFE-B7B2-3290-B4F3-8A61EC8AADD5}"/>
              </a:ext>
            </a:extLst>
          </p:cNvPr>
          <p:cNvCxnSpPr>
            <a:cxnSpLocks/>
          </p:cNvCxnSpPr>
          <p:nvPr/>
        </p:nvCxnSpPr>
        <p:spPr>
          <a:xfrm>
            <a:off x="2766100" y="2249342"/>
            <a:ext cx="199593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32105" marR="5080" indent="46990">
              <a:lnSpc>
                <a:spcPts val="3820"/>
              </a:lnSpc>
              <a:spcBef>
                <a:spcPts val="215"/>
              </a:spcBef>
            </a:pPr>
            <a:r>
              <a:rPr sz="3200" dirty="0">
                <a:latin typeface="Arial"/>
                <a:cs typeface="Arial"/>
              </a:rPr>
              <a:t>Module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1: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Books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Inventory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&amp; </a:t>
            </a:r>
            <a:r>
              <a:rPr sz="3200" dirty="0">
                <a:latin typeface="Arial"/>
                <a:cs typeface="Arial"/>
              </a:rPr>
              <a:t>Report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Analysis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Management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5255" y="2286000"/>
            <a:ext cx="4171244" cy="323124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402191" y="2562924"/>
            <a:ext cx="35814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Book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Inventory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Management</a:t>
            </a:r>
            <a:r>
              <a:rPr b="1" spc="-5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Module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34811" y="3069483"/>
            <a:ext cx="1839848" cy="85529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4534913" y="3177244"/>
            <a:ext cx="12693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80365">
              <a:lnSpc>
                <a:spcPct val="100600"/>
              </a:lnSpc>
              <a:spcBef>
                <a:spcPts val="8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Book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56655" y="3048000"/>
            <a:ext cx="1814195" cy="944880"/>
            <a:chOff x="7005725" y="2540332"/>
            <a:chExt cx="1814195" cy="944880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5725" y="2540332"/>
              <a:ext cx="1814090" cy="94472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0441" y="2562072"/>
              <a:ext cx="1724658" cy="85529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50441" y="2562072"/>
              <a:ext cx="1724660" cy="855344"/>
            </a:xfrm>
            <a:custGeom>
              <a:avLst/>
              <a:gdLst/>
              <a:ahLst/>
              <a:cxnLst/>
              <a:rect l="l" t="t" r="r" b="b"/>
              <a:pathLst>
                <a:path w="1724659" h="855345">
                  <a:moveTo>
                    <a:pt x="0" y="142551"/>
                  </a:moveTo>
                  <a:lnTo>
                    <a:pt x="7267" y="97494"/>
                  </a:lnTo>
                  <a:lnTo>
                    <a:pt x="27504" y="58362"/>
                  </a:lnTo>
                  <a:lnTo>
                    <a:pt x="58362" y="27504"/>
                  </a:lnTo>
                  <a:lnTo>
                    <a:pt x="97494" y="7267"/>
                  </a:lnTo>
                  <a:lnTo>
                    <a:pt x="142552" y="0"/>
                  </a:lnTo>
                  <a:lnTo>
                    <a:pt x="1582106" y="0"/>
                  </a:lnTo>
                  <a:lnTo>
                    <a:pt x="1636658" y="10851"/>
                  </a:lnTo>
                  <a:lnTo>
                    <a:pt x="1682906" y="41752"/>
                  </a:lnTo>
                  <a:lnTo>
                    <a:pt x="1713807" y="87999"/>
                  </a:lnTo>
                  <a:lnTo>
                    <a:pt x="1724658" y="142551"/>
                  </a:lnTo>
                  <a:lnTo>
                    <a:pt x="1724658" y="712742"/>
                  </a:lnTo>
                  <a:lnTo>
                    <a:pt x="1717391" y="757799"/>
                  </a:lnTo>
                  <a:lnTo>
                    <a:pt x="1697154" y="796931"/>
                  </a:lnTo>
                  <a:lnTo>
                    <a:pt x="1666296" y="827789"/>
                  </a:lnTo>
                  <a:lnTo>
                    <a:pt x="1627164" y="848026"/>
                  </a:lnTo>
                  <a:lnTo>
                    <a:pt x="1582106" y="855294"/>
                  </a:lnTo>
                  <a:lnTo>
                    <a:pt x="142552" y="855294"/>
                  </a:lnTo>
                  <a:lnTo>
                    <a:pt x="97494" y="848026"/>
                  </a:lnTo>
                  <a:lnTo>
                    <a:pt x="58362" y="827789"/>
                  </a:lnTo>
                  <a:lnTo>
                    <a:pt x="27504" y="796931"/>
                  </a:lnTo>
                  <a:lnTo>
                    <a:pt x="7267" y="757799"/>
                  </a:lnTo>
                  <a:lnTo>
                    <a:pt x="0" y="712742"/>
                  </a:lnTo>
                  <a:lnTo>
                    <a:pt x="0" y="142551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478632" y="3200618"/>
            <a:ext cx="133858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815" marR="5080" indent="-285750">
              <a:lnSpc>
                <a:spcPct val="100600"/>
              </a:lnSpc>
              <a:spcBef>
                <a:spcPts val="85"/>
              </a:spcBef>
            </a:pP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Stock</a:t>
            </a:r>
            <a:r>
              <a:rPr lang="en-US"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25" dirty="0">
                <a:solidFill>
                  <a:srgbClr val="FFFFFF"/>
                </a:solidFill>
                <a:latin typeface="Calibri"/>
                <a:cs typeface="Calibri"/>
              </a:rPr>
              <a:t>Tracking </a:t>
            </a: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US"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800" spc="-10" dirty="0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  <a:endParaRPr lang="en-US" sz="1800" dirty="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234811" y="4267200"/>
            <a:ext cx="1931039" cy="912777"/>
            <a:chOff x="4995872" y="3747066"/>
            <a:chExt cx="1931039" cy="912777"/>
          </a:xfrm>
        </p:grpSpPr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5872" y="3747066"/>
              <a:ext cx="1931039" cy="91277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0588" y="3768806"/>
              <a:ext cx="1841608" cy="82334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040588" y="3768806"/>
              <a:ext cx="1842135" cy="823594"/>
            </a:xfrm>
            <a:custGeom>
              <a:avLst/>
              <a:gdLst/>
              <a:ahLst/>
              <a:cxnLst/>
              <a:rect l="l" t="t" r="r" b="b"/>
              <a:pathLst>
                <a:path w="1842134" h="823595">
                  <a:moveTo>
                    <a:pt x="0" y="137227"/>
                  </a:moveTo>
                  <a:lnTo>
                    <a:pt x="6995" y="93852"/>
                  </a:lnTo>
                  <a:lnTo>
                    <a:pt x="26476" y="56182"/>
                  </a:lnTo>
                  <a:lnTo>
                    <a:pt x="56182" y="26476"/>
                  </a:lnTo>
                  <a:lnTo>
                    <a:pt x="93852" y="6995"/>
                  </a:lnTo>
                  <a:lnTo>
                    <a:pt x="137226" y="0"/>
                  </a:lnTo>
                  <a:lnTo>
                    <a:pt x="1704381" y="0"/>
                  </a:lnTo>
                  <a:lnTo>
                    <a:pt x="1756896" y="10445"/>
                  </a:lnTo>
                  <a:lnTo>
                    <a:pt x="1801415" y="40192"/>
                  </a:lnTo>
                  <a:lnTo>
                    <a:pt x="1831162" y="84712"/>
                  </a:lnTo>
                  <a:lnTo>
                    <a:pt x="1841608" y="137227"/>
                  </a:lnTo>
                  <a:lnTo>
                    <a:pt x="1841608" y="686118"/>
                  </a:lnTo>
                  <a:lnTo>
                    <a:pt x="1834612" y="729492"/>
                  </a:lnTo>
                  <a:lnTo>
                    <a:pt x="1815131" y="767162"/>
                  </a:lnTo>
                  <a:lnTo>
                    <a:pt x="1785425" y="796868"/>
                  </a:lnTo>
                  <a:lnTo>
                    <a:pt x="1747755" y="816349"/>
                  </a:lnTo>
                  <a:lnTo>
                    <a:pt x="1704381" y="823345"/>
                  </a:lnTo>
                  <a:lnTo>
                    <a:pt x="137226" y="823345"/>
                  </a:lnTo>
                  <a:lnTo>
                    <a:pt x="93852" y="816349"/>
                  </a:lnTo>
                  <a:lnTo>
                    <a:pt x="56182" y="796868"/>
                  </a:lnTo>
                  <a:lnTo>
                    <a:pt x="26476" y="767162"/>
                  </a:lnTo>
                  <a:lnTo>
                    <a:pt x="6995" y="729492"/>
                  </a:lnTo>
                  <a:lnTo>
                    <a:pt x="0" y="686118"/>
                  </a:lnTo>
                  <a:lnTo>
                    <a:pt x="0" y="137227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462178" y="4425364"/>
            <a:ext cx="144589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07314" marR="5080" indent="-95250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Supply Management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42050" y="4267200"/>
            <a:ext cx="1812289" cy="921385"/>
            <a:chOff x="7005725" y="3744721"/>
            <a:chExt cx="1812289" cy="921385"/>
          </a:xfrm>
        </p:grpSpPr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5725" y="3744721"/>
              <a:ext cx="1811744" cy="9212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50441" y="3766461"/>
              <a:ext cx="1722312" cy="8318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050441" y="3766461"/>
              <a:ext cx="1722755" cy="831850"/>
            </a:xfrm>
            <a:custGeom>
              <a:avLst/>
              <a:gdLst/>
              <a:ahLst/>
              <a:cxnLst/>
              <a:rect l="l" t="t" r="r" b="b"/>
              <a:pathLst>
                <a:path w="1722754" h="831850">
                  <a:moveTo>
                    <a:pt x="0" y="138643"/>
                  </a:moveTo>
                  <a:lnTo>
                    <a:pt x="7068" y="94821"/>
                  </a:lnTo>
                  <a:lnTo>
                    <a:pt x="26750" y="56762"/>
                  </a:lnTo>
                  <a:lnTo>
                    <a:pt x="56762" y="26750"/>
                  </a:lnTo>
                  <a:lnTo>
                    <a:pt x="94821" y="7068"/>
                  </a:lnTo>
                  <a:lnTo>
                    <a:pt x="138643" y="0"/>
                  </a:lnTo>
                  <a:lnTo>
                    <a:pt x="1583668" y="0"/>
                  </a:lnTo>
                  <a:lnTo>
                    <a:pt x="1636725" y="10553"/>
                  </a:lnTo>
                  <a:lnTo>
                    <a:pt x="1681704" y="40607"/>
                  </a:lnTo>
                  <a:lnTo>
                    <a:pt x="1711758" y="85586"/>
                  </a:lnTo>
                  <a:lnTo>
                    <a:pt x="1722312" y="138643"/>
                  </a:lnTo>
                  <a:lnTo>
                    <a:pt x="1722312" y="693201"/>
                  </a:lnTo>
                  <a:lnTo>
                    <a:pt x="1715244" y="737023"/>
                  </a:lnTo>
                  <a:lnTo>
                    <a:pt x="1695562" y="775082"/>
                  </a:lnTo>
                  <a:lnTo>
                    <a:pt x="1665549" y="805094"/>
                  </a:lnTo>
                  <a:lnTo>
                    <a:pt x="1627490" y="824776"/>
                  </a:lnTo>
                  <a:lnTo>
                    <a:pt x="1583668" y="831844"/>
                  </a:lnTo>
                  <a:lnTo>
                    <a:pt x="138643" y="831844"/>
                  </a:lnTo>
                  <a:lnTo>
                    <a:pt x="94821" y="824776"/>
                  </a:lnTo>
                  <a:lnTo>
                    <a:pt x="56762" y="805094"/>
                  </a:lnTo>
                  <a:lnTo>
                    <a:pt x="26750" y="775082"/>
                  </a:lnTo>
                  <a:lnTo>
                    <a:pt x="7068" y="737023"/>
                  </a:lnTo>
                  <a:lnTo>
                    <a:pt x="0" y="693201"/>
                  </a:lnTo>
                  <a:lnTo>
                    <a:pt x="0" y="138643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686416" y="4407381"/>
            <a:ext cx="93535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37465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1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47AC503-D78F-97CA-AFB6-A9F89CC2DEB9}"/>
              </a:ext>
            </a:extLst>
          </p:cNvPr>
          <p:cNvSpPr/>
          <p:nvPr/>
        </p:nvSpPr>
        <p:spPr>
          <a:xfrm>
            <a:off x="921931" y="1905000"/>
            <a:ext cx="1967319" cy="94687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Member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BCB8B24-C11A-D42F-2062-CE357CC4560E}"/>
              </a:ext>
            </a:extLst>
          </p:cNvPr>
          <p:cNvSpPr/>
          <p:nvPr/>
        </p:nvSpPr>
        <p:spPr>
          <a:xfrm>
            <a:off x="9290050" y="4038600"/>
            <a:ext cx="1981200" cy="944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2700" marR="5080" indent="399415">
              <a:lnSpc>
                <a:spcPct val="100600"/>
              </a:lnSpc>
              <a:spcBef>
                <a:spcPts val="85"/>
              </a:spcBef>
            </a:pPr>
            <a:r>
              <a:rPr lang="en-US" b="1" spc="-10" dirty="0">
                <a:solidFill>
                  <a:schemeClr val="tx1"/>
                </a:solidFill>
                <a:cs typeface="Calibri"/>
              </a:rPr>
              <a:t>Database    </a:t>
            </a:r>
            <a:r>
              <a:rPr lang="en-US" b="1" dirty="0">
                <a:solidFill>
                  <a:schemeClr val="tx1"/>
                </a:solidFill>
                <a:cs typeface="Calibri"/>
              </a:rPr>
              <a:t>Book</a:t>
            </a:r>
            <a:r>
              <a:rPr lang="en-US" b="1" spc="-1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dirty="0">
                <a:solidFill>
                  <a:schemeClr val="tx1"/>
                </a:solidFill>
                <a:cs typeface="Calibri"/>
              </a:rPr>
              <a:t>&amp;</a:t>
            </a:r>
            <a:r>
              <a:rPr lang="en-US" b="1" spc="-1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b="1" spc="-20" dirty="0">
                <a:solidFill>
                  <a:schemeClr val="tx1"/>
                </a:solidFill>
                <a:cs typeface="Calibri"/>
              </a:rPr>
              <a:t>Inventory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9546559-64F4-2493-25C5-30A8A1464F51}"/>
              </a:ext>
            </a:extLst>
          </p:cNvPr>
          <p:cNvSpPr/>
          <p:nvPr/>
        </p:nvSpPr>
        <p:spPr>
          <a:xfrm>
            <a:off x="9290050" y="1828800"/>
            <a:ext cx="1981200" cy="96375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cs typeface="Calibri"/>
              </a:rPr>
              <a:t>Manage</a:t>
            </a:r>
            <a:r>
              <a:rPr lang="en-US" b="1" spc="-95" dirty="0">
                <a:cs typeface="Calibri"/>
              </a:rPr>
              <a:t> </a:t>
            </a:r>
            <a:r>
              <a:rPr lang="en-US" b="1" spc="-20" dirty="0">
                <a:cs typeface="Calibri"/>
              </a:rPr>
              <a:t>Transaction / </a:t>
            </a:r>
            <a:r>
              <a:rPr lang="en-US" b="1" spc="-10" dirty="0">
                <a:cs typeface="Calibri"/>
              </a:rPr>
              <a:t>Payments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FD20DBC-792A-2BF1-936B-47873227F4EB}"/>
              </a:ext>
            </a:extLst>
          </p:cNvPr>
          <p:cNvSpPr/>
          <p:nvPr/>
        </p:nvSpPr>
        <p:spPr>
          <a:xfrm>
            <a:off x="921931" y="4191000"/>
            <a:ext cx="1967319" cy="944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16865" marR="5080" indent="-304800">
              <a:lnSpc>
                <a:spcPct val="100600"/>
              </a:lnSpc>
              <a:spcBef>
                <a:spcPts val="85"/>
              </a:spcBef>
            </a:pPr>
            <a:r>
              <a:rPr lang="en-US" b="1" dirty="0">
                <a:cs typeface="Calibri"/>
              </a:rPr>
              <a:t>Manage Member Information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AF42B2C-1982-0DD4-EF68-4BA833A12E89}"/>
              </a:ext>
            </a:extLst>
          </p:cNvPr>
          <p:cNvCxnSpPr>
            <a:cxnSpLocks/>
          </p:cNvCxnSpPr>
          <p:nvPr/>
        </p:nvCxnSpPr>
        <p:spPr>
          <a:xfrm flipV="1">
            <a:off x="1898650" y="5257646"/>
            <a:ext cx="0" cy="762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46838E-6207-4042-497E-C94257581689}"/>
              </a:ext>
            </a:extLst>
          </p:cNvPr>
          <p:cNvCxnSpPr/>
          <p:nvPr/>
        </p:nvCxnSpPr>
        <p:spPr>
          <a:xfrm>
            <a:off x="1905590" y="6019800"/>
            <a:ext cx="32947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0740488-4945-D969-8451-4D8156FCD25B}"/>
              </a:ext>
            </a:extLst>
          </p:cNvPr>
          <p:cNvCxnSpPr>
            <a:cxnSpLocks/>
          </p:cNvCxnSpPr>
          <p:nvPr/>
        </p:nvCxnSpPr>
        <p:spPr>
          <a:xfrm>
            <a:off x="7004050" y="6019800"/>
            <a:ext cx="3276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E9761B-AD06-75F8-A619-3F859E375855}"/>
              </a:ext>
            </a:extLst>
          </p:cNvPr>
          <p:cNvCxnSpPr/>
          <p:nvPr/>
        </p:nvCxnSpPr>
        <p:spPr>
          <a:xfrm flipV="1">
            <a:off x="10280650" y="5120784"/>
            <a:ext cx="0" cy="89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1D19E3-D580-F073-8414-34B565BF47E1}"/>
              </a:ext>
            </a:extLst>
          </p:cNvPr>
          <p:cNvCxnSpPr/>
          <p:nvPr/>
        </p:nvCxnSpPr>
        <p:spPr>
          <a:xfrm flipV="1">
            <a:off x="10280650" y="2990611"/>
            <a:ext cx="0" cy="876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E5C359-FC69-8079-B01B-F0CB4B9FF3A5}"/>
              </a:ext>
            </a:extLst>
          </p:cNvPr>
          <p:cNvCxnSpPr>
            <a:cxnSpLocks/>
          </p:cNvCxnSpPr>
          <p:nvPr/>
        </p:nvCxnSpPr>
        <p:spPr>
          <a:xfrm>
            <a:off x="1905590" y="3021091"/>
            <a:ext cx="6940" cy="10479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9188F-CB98-B004-7965-8300CCA2688D}"/>
              </a:ext>
            </a:extLst>
          </p:cNvPr>
          <p:cNvCxnSpPr/>
          <p:nvPr/>
        </p:nvCxnSpPr>
        <p:spPr>
          <a:xfrm flipV="1">
            <a:off x="7004050" y="5517242"/>
            <a:ext cx="0" cy="502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A7BF6C-1C71-6B63-01AD-2EF73F2DE73D}"/>
              </a:ext>
            </a:extLst>
          </p:cNvPr>
          <p:cNvCxnSpPr/>
          <p:nvPr/>
        </p:nvCxnSpPr>
        <p:spPr>
          <a:xfrm flipV="1">
            <a:off x="5200330" y="5517242"/>
            <a:ext cx="0" cy="502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242" rIns="0" bIns="0" rtlCol="0">
            <a:spAutoFit/>
          </a:bodyPr>
          <a:lstStyle/>
          <a:p>
            <a:pPr marL="731520" marR="5080" indent="-419100">
              <a:lnSpc>
                <a:spcPts val="3820"/>
              </a:lnSpc>
              <a:spcBef>
                <a:spcPts val="215"/>
              </a:spcBef>
            </a:pPr>
            <a:r>
              <a:rPr sz="3200" dirty="0">
                <a:latin typeface="Arial"/>
                <a:cs typeface="Arial"/>
              </a:rPr>
              <a:t>Module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2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User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information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&amp; </a:t>
            </a:r>
            <a:r>
              <a:rPr sz="3200" dirty="0">
                <a:latin typeface="Arial"/>
                <a:cs typeface="Arial"/>
              </a:rPr>
              <a:t>Circulation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Management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10BC30E-F82F-41DE-0261-B1EE71A9868A}"/>
              </a:ext>
            </a:extLst>
          </p:cNvPr>
          <p:cNvSpPr/>
          <p:nvPr/>
        </p:nvSpPr>
        <p:spPr>
          <a:xfrm>
            <a:off x="1100511" y="2067342"/>
            <a:ext cx="2863831" cy="98003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User Client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9350018-E7F7-EA02-E8F2-6B3A8DDC0637}"/>
              </a:ext>
            </a:extLst>
          </p:cNvPr>
          <p:cNvSpPr/>
          <p:nvPr/>
        </p:nvSpPr>
        <p:spPr>
          <a:xfrm>
            <a:off x="1079466" y="4768489"/>
            <a:ext cx="2858539" cy="98003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Admin Dashboard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EC36514-4051-29E3-209F-A0EA553F9A51}"/>
              </a:ext>
            </a:extLst>
          </p:cNvPr>
          <p:cNvSpPr/>
          <p:nvPr/>
        </p:nvSpPr>
        <p:spPr>
          <a:xfrm>
            <a:off x="8504313" y="2066658"/>
            <a:ext cx="2863831" cy="98071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Authentication Service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F3879BC-4654-FA4B-47D6-84B1C54D2B0D}"/>
              </a:ext>
            </a:extLst>
          </p:cNvPr>
          <p:cNvSpPr/>
          <p:nvPr/>
        </p:nvSpPr>
        <p:spPr>
          <a:xfrm>
            <a:off x="8576935" y="4765326"/>
            <a:ext cx="2843137" cy="9800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400" b="1" spc="-10" dirty="0">
                <a:cs typeface="Calibri"/>
              </a:rPr>
              <a:t>Database</a:t>
            </a:r>
            <a:endParaRPr lang="en-US" b="1" dirty="0">
              <a:cs typeface="Calibri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89653B2C-1BDA-D360-849D-9E30080B487E}"/>
              </a:ext>
            </a:extLst>
          </p:cNvPr>
          <p:cNvSpPr/>
          <p:nvPr/>
        </p:nvSpPr>
        <p:spPr>
          <a:xfrm>
            <a:off x="4807613" y="2066658"/>
            <a:ext cx="2853429" cy="95527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Notification</a:t>
            </a:r>
          </a:p>
          <a:p>
            <a:pPr marL="43180" algn="ctr">
              <a:lnSpc>
                <a:spcPct val="100000"/>
              </a:lnSpc>
              <a:spcBef>
                <a:spcPts val="15"/>
              </a:spcBef>
            </a:pPr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Service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D51C175-E9F8-7A17-6E65-893C20C41F45}"/>
              </a:ext>
            </a:extLst>
          </p:cNvPr>
          <p:cNvSpPr/>
          <p:nvPr/>
        </p:nvSpPr>
        <p:spPr>
          <a:xfrm>
            <a:off x="4893828" y="3978776"/>
            <a:ext cx="2713647" cy="255945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1E93A17-47E9-D999-3B80-75ADD05B779D}"/>
              </a:ext>
            </a:extLst>
          </p:cNvPr>
          <p:cNvSpPr/>
          <p:nvPr/>
        </p:nvSpPr>
        <p:spPr>
          <a:xfrm>
            <a:off x="5183851" y="5185897"/>
            <a:ext cx="2133600" cy="106680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 Queue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E4F51F0-A601-30EA-3A84-977A32701F3B}"/>
              </a:ext>
            </a:extLst>
          </p:cNvPr>
          <p:cNvSpPr txBox="1"/>
          <p:nvPr/>
        </p:nvSpPr>
        <p:spPr>
          <a:xfrm>
            <a:off x="5450551" y="4406223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Server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2F08E-4650-82C8-BFFC-0231440F3A5F}"/>
              </a:ext>
            </a:extLst>
          </p:cNvPr>
          <p:cNvCxnSpPr/>
          <p:nvPr/>
        </p:nvCxnSpPr>
        <p:spPr>
          <a:xfrm>
            <a:off x="8070850" y="2557017"/>
            <a:ext cx="0" cy="13636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CCA455-C50E-FF98-EB65-C07B2C37ED71}"/>
              </a:ext>
            </a:extLst>
          </p:cNvPr>
          <p:cNvCxnSpPr/>
          <p:nvPr/>
        </p:nvCxnSpPr>
        <p:spPr>
          <a:xfrm>
            <a:off x="8070850" y="3920621"/>
            <a:ext cx="18653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CD32D2-BD3E-F3E2-2708-074F2C46FB9D}"/>
              </a:ext>
            </a:extLst>
          </p:cNvPr>
          <p:cNvCxnSpPr/>
          <p:nvPr/>
        </p:nvCxnSpPr>
        <p:spPr>
          <a:xfrm flipH="1">
            <a:off x="7661042" y="2544293"/>
            <a:ext cx="409808" cy="12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F04E24-ED2F-D74B-057D-8F8B1671C929}"/>
              </a:ext>
            </a:extLst>
          </p:cNvPr>
          <p:cNvCxnSpPr/>
          <p:nvPr/>
        </p:nvCxnSpPr>
        <p:spPr>
          <a:xfrm>
            <a:off x="9936228" y="3920621"/>
            <a:ext cx="0" cy="844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3BD9B9-20A0-DF2D-C884-46EC70986C19}"/>
              </a:ext>
            </a:extLst>
          </p:cNvPr>
          <p:cNvCxnSpPr/>
          <p:nvPr/>
        </p:nvCxnSpPr>
        <p:spPr>
          <a:xfrm>
            <a:off x="8070850" y="3920621"/>
            <a:ext cx="0" cy="13347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838DE7-DF4D-972B-B129-8FC55EF9B59B}"/>
              </a:ext>
            </a:extLst>
          </p:cNvPr>
          <p:cNvCxnSpPr>
            <a:endCxn id="141" idx="3"/>
          </p:cNvCxnSpPr>
          <p:nvPr/>
        </p:nvCxnSpPr>
        <p:spPr>
          <a:xfrm flipH="1">
            <a:off x="7607475" y="5255344"/>
            <a:ext cx="463375" cy="3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BED004-F553-EACA-484A-AF0B72C3A94A}"/>
              </a:ext>
            </a:extLst>
          </p:cNvPr>
          <p:cNvCxnSpPr>
            <a:cxnSpLocks/>
          </p:cNvCxnSpPr>
          <p:nvPr/>
        </p:nvCxnSpPr>
        <p:spPr>
          <a:xfrm flipV="1">
            <a:off x="9942370" y="3047377"/>
            <a:ext cx="0" cy="881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343C74-7DB2-6B26-1086-C156CD5658A4}"/>
              </a:ext>
            </a:extLst>
          </p:cNvPr>
          <p:cNvCxnSpPr>
            <a:stCxn id="98" idx="1"/>
            <a:endCxn id="82" idx="3"/>
          </p:cNvCxnSpPr>
          <p:nvPr/>
        </p:nvCxnSpPr>
        <p:spPr>
          <a:xfrm flipH="1">
            <a:off x="3964342" y="2544294"/>
            <a:ext cx="843271" cy="130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C7A595-B31B-21C0-D544-99A57C52CADD}"/>
              </a:ext>
            </a:extLst>
          </p:cNvPr>
          <p:cNvCxnSpPr>
            <a:cxnSpLocks/>
          </p:cNvCxnSpPr>
          <p:nvPr/>
        </p:nvCxnSpPr>
        <p:spPr>
          <a:xfrm>
            <a:off x="4385977" y="2550655"/>
            <a:ext cx="0" cy="27046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E5CD5FB-1C41-2F5A-98E5-B938E5F3F138}"/>
              </a:ext>
            </a:extLst>
          </p:cNvPr>
          <p:cNvCxnSpPr>
            <a:cxnSpLocks/>
          </p:cNvCxnSpPr>
          <p:nvPr/>
        </p:nvCxnSpPr>
        <p:spPr>
          <a:xfrm flipH="1">
            <a:off x="3936238" y="5255344"/>
            <a:ext cx="4497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C88CEA0-2756-12B4-6895-27BF86549089}"/>
              </a:ext>
            </a:extLst>
          </p:cNvPr>
          <p:cNvCxnSpPr>
            <a:endCxn id="141" idx="1"/>
          </p:cNvCxnSpPr>
          <p:nvPr/>
        </p:nvCxnSpPr>
        <p:spPr>
          <a:xfrm>
            <a:off x="4385977" y="5255344"/>
            <a:ext cx="507851" cy="3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4BF3A0E-3329-EC37-737A-6BA8CB365911}"/>
              </a:ext>
            </a:extLst>
          </p:cNvPr>
          <p:cNvCxnSpPr>
            <a:cxnSpLocks/>
          </p:cNvCxnSpPr>
          <p:nvPr/>
        </p:nvCxnSpPr>
        <p:spPr>
          <a:xfrm flipH="1" flipV="1">
            <a:off x="2532426" y="3895245"/>
            <a:ext cx="1853551" cy="253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11B39ED-F879-0622-ECBB-263CB044AB6B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2532426" y="3047377"/>
            <a:ext cx="1" cy="8291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1050" y="0"/>
            <a:ext cx="6943570" cy="672656"/>
          </a:xfrm>
          <a:prstGeom prst="rect">
            <a:avLst/>
          </a:prstGeom>
        </p:spPr>
        <p:txBody>
          <a:bodyPr vert="horz" wrap="square" lIns="0" tIns="178471" rIns="0" bIns="0" rtlCol="0" anchor="ctr">
            <a:spAutoFit/>
          </a:bodyPr>
          <a:lstStyle/>
          <a:p>
            <a:pPr marL="1632585" algn="l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Implementation</a:t>
            </a:r>
            <a:r>
              <a:rPr lang="en-US" sz="3200" spc="-10" dirty="0"/>
              <a:t> – Module 1</a:t>
            </a:r>
            <a:endParaRPr sz="32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D98BA-204D-0CC9-EAED-0D726F00C478}"/>
              </a:ext>
            </a:extLst>
          </p:cNvPr>
          <p:cNvSpPr txBox="1"/>
          <p:nvPr/>
        </p:nvSpPr>
        <p:spPr>
          <a:xfrm>
            <a:off x="2651280" y="845403"/>
            <a:ext cx="6943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/>
                <a:cs typeface="Arial"/>
              </a:rPr>
              <a:t>Books</a:t>
            </a:r>
            <a:r>
              <a:rPr lang="en-US" sz="2400" b="1" spc="-5" dirty="0">
                <a:latin typeface="Arial"/>
                <a:cs typeface="Arial"/>
              </a:rPr>
              <a:t> inventory </a:t>
            </a:r>
            <a:r>
              <a:rPr lang="en-US" sz="2400" b="1" spc="-50" dirty="0">
                <a:latin typeface="Arial"/>
                <a:cs typeface="Arial"/>
              </a:rPr>
              <a:t>&amp; </a:t>
            </a:r>
            <a:r>
              <a:rPr lang="en-US" sz="2400" b="1" dirty="0">
                <a:latin typeface="Arial"/>
                <a:cs typeface="Arial"/>
              </a:rPr>
              <a:t>Report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Analysis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Management</a:t>
            </a:r>
            <a:endParaRPr lang="en-US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9B790E-54D6-D763-EC28-BD103A6F6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367" y="1808454"/>
            <a:ext cx="5556505" cy="4858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09258C-9F43-584D-095E-915D3103B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50" y="1808454"/>
            <a:ext cx="5368152" cy="4858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1451FAEA-9D0B-76BB-69C6-1ACAB05764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19DCE70-6C8C-AAC4-F3C6-A9A164C1E6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C78B1-89D8-C8F1-CE09-6B6F74C18325}"/>
              </a:ext>
            </a:extLst>
          </p:cNvPr>
          <p:cNvSpPr txBox="1"/>
          <p:nvPr/>
        </p:nvSpPr>
        <p:spPr>
          <a:xfrm>
            <a:off x="3346450" y="36286"/>
            <a:ext cx="60887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10" dirty="0"/>
              <a:t>Implementation – Module 2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A18CF-358D-F38B-241D-5BD6A01185C4}"/>
              </a:ext>
            </a:extLst>
          </p:cNvPr>
          <p:cNvSpPr txBox="1"/>
          <p:nvPr/>
        </p:nvSpPr>
        <p:spPr>
          <a:xfrm>
            <a:off x="3422650" y="698284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/>
                <a:cs typeface="Arial"/>
              </a:rPr>
              <a:t>User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dirty="0">
                <a:latin typeface="Arial"/>
                <a:cs typeface="Arial"/>
              </a:rPr>
              <a:t>information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spc="-50" dirty="0">
                <a:latin typeface="Arial"/>
                <a:cs typeface="Arial"/>
              </a:rPr>
              <a:t>&amp; </a:t>
            </a:r>
            <a:r>
              <a:rPr lang="en-US" sz="2400" b="1" dirty="0">
                <a:latin typeface="Arial"/>
                <a:cs typeface="Arial"/>
              </a:rPr>
              <a:t>Circulation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Management</a:t>
            </a:r>
            <a:endParaRPr lang="en-US" sz="2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3BF7C3-91B6-298B-F2F2-B66A32A2D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78" y="1756370"/>
            <a:ext cx="5732671" cy="49102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378D0D-4A97-9448-ADEE-6414EB50E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50" y="1756368"/>
            <a:ext cx="5334000" cy="4910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55C3D7-9CC1-820F-65CB-FF4B223039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821" y="1752739"/>
            <a:ext cx="5334000" cy="49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41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973455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0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861330"/>
            <a:ext cx="9933940" cy="40811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marR="5080" indent="-378460">
              <a:lnSpc>
                <a:spcPts val="3820"/>
              </a:lnSpc>
              <a:spcBef>
                <a:spcPts val="24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Search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efficiency: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Achieved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O(log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n)retrieval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speeds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using 	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algorithms,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making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catalog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queries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near-	instantaneous.</a:t>
            </a:r>
            <a:endParaRPr sz="3200">
              <a:latin typeface="Calibri"/>
              <a:cs typeface="Calibri"/>
            </a:endParaRPr>
          </a:p>
          <a:p>
            <a:pPr marL="390525" marR="399415" indent="-378460">
              <a:lnSpc>
                <a:spcPct val="101499"/>
              </a:lnSpc>
              <a:spcBef>
                <a:spcPts val="40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Data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persistence: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Successfully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implemented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.dat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binary 	</a:t>
            </a:r>
            <a:r>
              <a:rPr sz="3200" dirty="0">
                <a:latin typeface="Calibri"/>
                <a:cs typeface="Calibri"/>
              </a:rPr>
              <a:t>serialization,</a:t>
            </a:r>
            <a:r>
              <a:rPr sz="3200" spc="4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ensuring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100%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retention.</a:t>
            </a:r>
            <a:endParaRPr sz="3200">
              <a:latin typeface="Calibri"/>
              <a:cs typeface="Calibri"/>
            </a:endParaRPr>
          </a:p>
          <a:p>
            <a:pPr marL="390525" marR="382270" indent="-378460">
              <a:lnSpc>
                <a:spcPct val="100499"/>
              </a:lnSpc>
              <a:spcBef>
                <a:spcPts val="56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spc="-10" dirty="0">
                <a:latin typeface="Calibri"/>
                <a:cs typeface="Calibri"/>
              </a:rPr>
              <a:t>Resource</a:t>
            </a:r>
            <a:r>
              <a:rPr sz="3200" b="1" spc="-12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optimization: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Dynamic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memory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allocation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via 	</a:t>
            </a:r>
            <a:r>
              <a:rPr sz="3200" spc="-10" dirty="0">
                <a:latin typeface="Calibri"/>
                <a:cs typeface="Calibri"/>
              </a:rPr>
              <a:t>pointers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kept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footprints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exceptionally 	lightweight.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Challenges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130" y="1946370"/>
            <a:ext cx="10812780" cy="41001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marR="610870" indent="-378460">
              <a:lnSpc>
                <a:spcPts val="3820"/>
              </a:lnSpc>
              <a:spcBef>
                <a:spcPts val="24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Concurrency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issues: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lacks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native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multi-</a:t>
            </a:r>
            <a:r>
              <a:rPr sz="3200" spc="-10" dirty="0">
                <a:latin typeface="Calibri"/>
                <a:cs typeface="Calibri"/>
              </a:rPr>
              <a:t>threading, 	restricting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single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  <a:p>
            <a:pPr marL="390525" marR="167640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Data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corruption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risks: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sudden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crash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power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loss 	</a:t>
            </a:r>
            <a:r>
              <a:rPr sz="3200" dirty="0">
                <a:latin typeface="Calibri"/>
                <a:cs typeface="Calibri"/>
              </a:rPr>
              <a:t>during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active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fwrite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operation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permanently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corrupt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	</a:t>
            </a:r>
            <a:r>
              <a:rPr sz="3200" spc="-10" dirty="0">
                <a:latin typeface="Calibri"/>
                <a:cs typeface="Calibri"/>
              </a:rPr>
              <a:t>file.</a:t>
            </a:r>
            <a:endParaRPr sz="3200" dirty="0">
              <a:latin typeface="Calibri"/>
              <a:cs typeface="Calibri"/>
            </a:endParaRPr>
          </a:p>
          <a:p>
            <a:pPr marL="390525" marR="5080" indent="-378460">
              <a:lnSpc>
                <a:spcPts val="3820"/>
              </a:lnSpc>
              <a:spcBef>
                <a:spcPts val="73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Security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vulnerability: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Local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binary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files(.dat)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lack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advanced 	database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encryption,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making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them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susceptible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unauthorized 	</a:t>
            </a:r>
            <a:r>
              <a:rPr sz="3200" dirty="0">
                <a:latin typeface="Calibri"/>
                <a:cs typeface="Calibri"/>
              </a:rPr>
              <a:t>local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tampering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deletion.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79197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16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591791"/>
            <a:ext cx="11010900" cy="45758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marR="19050" indent="-378460">
              <a:lnSpc>
                <a:spcPts val="3820"/>
              </a:lnSpc>
              <a:spcBef>
                <a:spcPts val="24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AI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Personalization: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Integration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AI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recommendation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engines 	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suggest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books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history,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along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AI 	</a:t>
            </a:r>
            <a:r>
              <a:rPr sz="3200" dirty="0">
                <a:latin typeface="Calibri"/>
                <a:cs typeface="Calibri"/>
              </a:rPr>
              <a:t>chatbots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instant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patron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support.</a:t>
            </a:r>
            <a:endParaRPr sz="3200">
              <a:latin typeface="Calibri"/>
              <a:cs typeface="Calibri"/>
            </a:endParaRPr>
          </a:p>
          <a:p>
            <a:pPr marL="390525" marR="218440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dirty="0">
                <a:latin typeface="Calibri"/>
                <a:cs typeface="Calibri"/>
              </a:rPr>
              <a:t>IoT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&amp;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Smart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Tracking:</a:t>
            </a:r>
            <a:r>
              <a:rPr sz="3200" b="1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Adoption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RFID,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IoT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sensors,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smart 	</a:t>
            </a:r>
            <a:r>
              <a:rPr sz="3200" dirty="0">
                <a:latin typeface="Calibri"/>
                <a:cs typeface="Calibri"/>
              </a:rPr>
              <a:t>shelves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real-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inventory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self-</a:t>
            </a:r>
            <a:r>
              <a:rPr sz="3200" dirty="0">
                <a:latin typeface="Calibri"/>
                <a:cs typeface="Calibri"/>
              </a:rPr>
              <a:t>checkout,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	</a:t>
            </a:r>
            <a:r>
              <a:rPr sz="3200" spc="-10" dirty="0">
                <a:latin typeface="Calibri"/>
                <a:cs typeface="Calibri"/>
              </a:rPr>
              <a:t>automatic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book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misplaced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detection.</a:t>
            </a:r>
            <a:endParaRPr sz="3200">
              <a:latin typeface="Calibri"/>
              <a:cs typeface="Calibri"/>
            </a:endParaRPr>
          </a:p>
          <a:p>
            <a:pPr marL="390525" marR="5080" indent="-378460">
              <a:lnSpc>
                <a:spcPct val="100499"/>
              </a:lnSpc>
              <a:spcBef>
                <a:spcPts val="440"/>
              </a:spcBef>
              <a:buFont typeface="Arial"/>
              <a:buChar char="•"/>
              <a:tabLst>
                <a:tab pos="391795" algn="l"/>
              </a:tabLst>
            </a:pPr>
            <a:r>
              <a:rPr sz="3200" b="1" spc="-20" dirty="0">
                <a:latin typeface="Calibri"/>
                <a:cs typeface="Calibri"/>
              </a:rPr>
              <a:t>Mobile-</a:t>
            </a:r>
            <a:r>
              <a:rPr sz="3200" b="1" dirty="0">
                <a:latin typeface="Calibri"/>
                <a:cs typeface="Calibri"/>
              </a:rPr>
              <a:t>First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Integration:</a:t>
            </a:r>
            <a:r>
              <a:rPr sz="3200" b="1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Mobile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enabling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QR/barcode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self-	</a:t>
            </a:r>
            <a:r>
              <a:rPr sz="3200" dirty="0">
                <a:latin typeface="Calibri"/>
                <a:cs typeface="Calibri"/>
              </a:rPr>
              <a:t>scanning,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digital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library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cards,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push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notifications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dates, 	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remote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renewals.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20389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805" y="1691191"/>
            <a:ext cx="11079514" cy="47015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203898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72465" y="1629939"/>
            <a:ext cx="10834370" cy="50366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r>
              <a:rPr lang="en-US" sz="2000" b="1" spc="-10" dirty="0"/>
              <a:t>N. I. Ismayilov, "Library resources: Allocation and usage problems (comparative analysis of the world and regional practice)," Scientific and Theoretical Almanac Grani, vol. 26, no. 1, pp. 38-43, 2022.</a:t>
            </a:r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endParaRPr lang="en-US" sz="2000" b="1" spc="-10" dirty="0"/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r>
              <a:rPr lang="en-US" sz="2000" b="1" spc="-10" dirty="0"/>
              <a:t> N. I. Ismayilov, "Library resources: Allocation and usage problems (comparative analysis of the world and regional practice)," Scientific and Theoretical Almanac Grani, vol. 26, no. 1, pp. 38-43, 2022.</a:t>
            </a:r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endParaRPr lang="en-US" sz="2000" b="1" spc="-10" dirty="0"/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r>
              <a:rPr lang="en-US" sz="2000" b="1" spc="-10" dirty="0"/>
              <a:t>N. Khalilova, "The importance of scientific research on document management," Akademik Tarih </a:t>
            </a:r>
            <a:r>
              <a:rPr lang="en-US" sz="2000" b="1" spc="-10" dirty="0" err="1"/>
              <a:t>ve</a:t>
            </a:r>
            <a:r>
              <a:rPr lang="en-US" sz="2000" b="1" spc="-10" dirty="0"/>
              <a:t> </a:t>
            </a:r>
            <a:r>
              <a:rPr lang="en-US" sz="2000" b="1" spc="-10" dirty="0" err="1"/>
              <a:t>Düşünce</a:t>
            </a:r>
            <a:r>
              <a:rPr lang="en-US" sz="2000" b="1" spc="-10" dirty="0"/>
              <a:t> </a:t>
            </a:r>
            <a:r>
              <a:rPr lang="en-US" sz="2000" b="1" spc="-10" dirty="0" err="1"/>
              <a:t>Dergisi</a:t>
            </a:r>
            <a:r>
              <a:rPr lang="en-US" sz="2000" b="1" spc="-10" dirty="0"/>
              <a:t>, vol. 11, no. 6, pp. 4628-4634, 2024.</a:t>
            </a:r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endParaRPr lang="en-US" sz="2000" b="1" spc="-10" dirty="0"/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r>
              <a:rPr lang="en-US" sz="2000" b="1" spc="-10" dirty="0"/>
              <a:t>N. Khalilova, "A general perspective on a digital bibliographer as an element of an electronic bibliography," Akademik Tarih </a:t>
            </a:r>
            <a:r>
              <a:rPr lang="en-US" sz="2000" b="1" spc="-10" dirty="0" err="1"/>
              <a:t>ve</a:t>
            </a:r>
            <a:r>
              <a:rPr lang="en-US" sz="2000" b="1" spc="-10" dirty="0"/>
              <a:t> </a:t>
            </a:r>
            <a:r>
              <a:rPr lang="en-US" sz="2000" b="1" spc="-10" dirty="0" err="1"/>
              <a:t>Düşünce</a:t>
            </a:r>
            <a:r>
              <a:rPr lang="en-US" sz="2000" b="1" spc="-10" dirty="0"/>
              <a:t> </a:t>
            </a:r>
            <a:r>
              <a:rPr lang="en-US" sz="2000" b="1" spc="-10" dirty="0" err="1"/>
              <a:t>Dergisi</a:t>
            </a:r>
            <a:r>
              <a:rPr lang="en-US" sz="2000" b="1" spc="-10" dirty="0"/>
              <a:t>, vol. 11, no. 4, pp. 2687-2696, 2024.</a:t>
            </a:r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endParaRPr lang="en-US" sz="2000" b="1" spc="-10" dirty="0"/>
          </a:p>
          <a:p>
            <a:pPr marL="552450" marR="5080" indent="-540385" algn="just">
              <a:lnSpc>
                <a:spcPct val="100499"/>
              </a:lnSpc>
              <a:spcBef>
                <a:spcPts val="75"/>
              </a:spcBef>
              <a:buAutoNum type="arabicPeriod"/>
              <a:tabLst>
                <a:tab pos="552450" algn="l"/>
              </a:tabLst>
            </a:pPr>
            <a:r>
              <a:rPr lang="en-US" sz="2000" b="1" spc="-10" dirty="0"/>
              <a:t>I. Nadir and K. Sevda, "General characteristics of local lore documental network resources of the libraries of Azerbaijan (based on library collection)," </a:t>
            </a:r>
            <a:r>
              <a:rPr lang="en-US" sz="2000" b="1" spc="-10" dirty="0" err="1"/>
              <a:t>Technium</a:t>
            </a:r>
            <a:r>
              <a:rPr lang="en-US" sz="2000" b="1" spc="-10" dirty="0"/>
              <a:t> Soc. Sci. J., vol. 33, p. 628, 2022.</a:t>
            </a:r>
            <a:endParaRPr sz="2000" b="1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76449" y="449922"/>
            <a:ext cx="25971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114" dirty="0"/>
              <a:t> </a:t>
            </a:r>
            <a:r>
              <a:rPr spc="-65" dirty="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591796"/>
            <a:ext cx="29673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91160" algn="l"/>
              </a:tabLst>
            </a:pPr>
            <a:r>
              <a:rPr sz="3200" dirty="0">
                <a:latin typeface="Calibri"/>
                <a:cs typeface="Calibri"/>
              </a:rPr>
              <a:t>Any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Questions?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898</Words>
  <Application>Microsoft Office PowerPoint</Application>
  <PresentationFormat>Custom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MT</vt:lpstr>
      <vt:lpstr>Calibri</vt:lpstr>
      <vt:lpstr>Office Theme</vt:lpstr>
      <vt:lpstr>Design And Implementation Of Library Information Management System</vt:lpstr>
      <vt:lpstr>Introduction</vt:lpstr>
      <vt:lpstr>Objectives</vt:lpstr>
      <vt:lpstr>Literature Review</vt:lpstr>
      <vt:lpstr>Methodology</vt:lpstr>
      <vt:lpstr>System Architecture Design</vt:lpstr>
      <vt:lpstr>Module 1: Books Inventory &amp; Report Analysis Management</vt:lpstr>
      <vt:lpstr>Module 2 : User information &amp; Circulation Management</vt:lpstr>
      <vt:lpstr>Implementation – Module 1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13</cp:revision>
  <dcterms:created xsi:type="dcterms:W3CDTF">2026-08-06T03:23:01Z</dcterms:created>
  <dcterms:modified xsi:type="dcterms:W3CDTF">2026-08-22T08:36:31Z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2026-08-06T00:00:00Z</vt:filetime>
  </property>
</Properties>
</file>